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Unbounded"/>
      <p:regular r:id="rId17"/>
    </p:embeddedFont>
    <p:embeddedFont>
      <p:font typeface="Unbounded"/>
      <p:regular r:id="rId18"/>
    </p:embeddedFont>
    <p:embeddedFont>
      <p:font typeface="Cabin"/>
      <p:regular r:id="rId19"/>
    </p:embeddedFont>
    <p:embeddedFont>
      <p:font typeface="Cabin"/>
      <p:regular r:id="rId20"/>
    </p:embeddedFont>
    <p:embeddedFont>
      <p:font typeface="Cabin"/>
      <p:regular r:id="rId21"/>
    </p:embeddedFont>
    <p:embeddedFont>
      <p:font typeface="Cabin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0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slideLayout" Target="../slideLayouts/slideLayout1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656761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Customer Shopping Behavior Analysis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423767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Uncovering insights from 3,900 purchases to guide strategic business decisions through data-driven analysis of spending patterns, customer segments, and product preferences.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805220"/>
            <a:ext cx="2039541" cy="449818"/>
          </a:xfrm>
          <a:prstGeom prst="roundRect">
            <a:avLst>
              <a:gd name="adj" fmla="val 6386"/>
            </a:avLst>
          </a:prstGeom>
          <a:solidFill>
            <a:srgbClr val="054842"/>
          </a:solidFill>
          <a:ln/>
        </p:spPr>
      </p:sp>
      <p:sp>
        <p:nvSpPr>
          <p:cNvPr id="3" name="Text 1"/>
          <p:cNvSpPr/>
          <p:nvPr/>
        </p:nvSpPr>
        <p:spPr>
          <a:xfrm>
            <a:off x="981313" y="877014"/>
            <a:ext cx="1752362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DATASET OVERVIEW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1350764"/>
            <a:ext cx="864750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Foundation: Our Data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37724" y="2533412"/>
            <a:ext cx="41188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3.9K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1488996" y="362235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37724" y="4117896"/>
            <a:ext cx="411884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Transactions analyzed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5255776" y="2533412"/>
            <a:ext cx="41188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18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5907048" y="362235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Points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55776" y="4117896"/>
            <a:ext cx="411884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Features per customer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9673828" y="2533412"/>
            <a:ext cx="41188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50</a:t>
            </a:r>
            <a:endParaRPr lang="en-US" sz="6200" dirty="0"/>
          </a:p>
        </p:txBody>
      </p:sp>
      <p:sp>
        <p:nvSpPr>
          <p:cNvPr id="12" name="Text 10"/>
          <p:cNvSpPr/>
          <p:nvPr/>
        </p:nvSpPr>
        <p:spPr>
          <a:xfrm>
            <a:off x="10325100" y="362235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Locations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673828" y="4117896"/>
            <a:ext cx="411884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Geographic coverage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37724" y="4859893"/>
            <a:ext cx="4344353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Features Tracked</a:t>
            </a:r>
            <a:endParaRPr lang="en-US" sz="2650" dirty="0"/>
          </a:p>
        </p:txBody>
      </p:sp>
      <p:sp>
        <p:nvSpPr>
          <p:cNvPr id="15" name="Text 13"/>
          <p:cNvSpPr/>
          <p:nvPr/>
        </p:nvSpPr>
        <p:spPr>
          <a:xfrm>
            <a:off x="837724" y="5641181"/>
            <a:ext cx="12954952" cy="1532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Customer demographics and subscription status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Purchase details across 4 product categories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Shopping behavior and review ratings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Shipping preferences and payment methods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185267"/>
            <a:ext cx="1327190" cy="465058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0A988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8933" y="1322070"/>
            <a:ext cx="191453" cy="1914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6112" y="1264682"/>
            <a:ext cx="737592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PYTHON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37724" y="1746052"/>
            <a:ext cx="957107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Preparation &amp; Cleaning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37724" y="2809042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837724" y="3185398"/>
            <a:ext cx="6357818" cy="3048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8" name="Text 5"/>
          <p:cNvSpPr/>
          <p:nvPr/>
        </p:nvSpPr>
        <p:spPr>
          <a:xfrm>
            <a:off x="837724" y="3366016"/>
            <a:ext cx="459105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Loading &amp; Exploration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37724" y="3861554"/>
            <a:ext cx="635781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Imported dataset and performed initial structure analysis using pandas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7434858" y="2809042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7434858" y="3185398"/>
            <a:ext cx="6357818" cy="3048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2" name="Text 9"/>
          <p:cNvSpPr/>
          <p:nvPr/>
        </p:nvSpPr>
        <p:spPr>
          <a:xfrm>
            <a:off x="7434858" y="3366016"/>
            <a:ext cx="378094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34858" y="3861554"/>
            <a:ext cx="635781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Imputed 37 missing Review Rating values using median by category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837724" y="5046345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850" dirty="0"/>
          </a:p>
        </p:txBody>
      </p:sp>
      <p:sp>
        <p:nvSpPr>
          <p:cNvPr id="15" name="Shape 12"/>
          <p:cNvSpPr/>
          <p:nvPr/>
        </p:nvSpPr>
        <p:spPr>
          <a:xfrm>
            <a:off x="837724" y="5422702"/>
            <a:ext cx="6357818" cy="3048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6" name="Text 13"/>
          <p:cNvSpPr/>
          <p:nvPr/>
        </p:nvSpPr>
        <p:spPr>
          <a:xfrm>
            <a:off x="837724" y="5603319"/>
            <a:ext cx="337173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37724" y="6098857"/>
            <a:ext cx="635781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Created age groups and purchase frequency metrics for deeper insights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7434858" y="5046345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1850" dirty="0"/>
          </a:p>
        </p:txBody>
      </p:sp>
      <p:sp>
        <p:nvSpPr>
          <p:cNvPr id="19" name="Shape 16"/>
          <p:cNvSpPr/>
          <p:nvPr/>
        </p:nvSpPr>
        <p:spPr>
          <a:xfrm>
            <a:off x="7434858" y="5422702"/>
            <a:ext cx="6357818" cy="3048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20" name="Text 17"/>
          <p:cNvSpPr/>
          <p:nvPr/>
        </p:nvSpPr>
        <p:spPr>
          <a:xfrm>
            <a:off x="7434858" y="5603319"/>
            <a:ext cx="363093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434858" y="6098857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Connected to PostgreSQL for advanced SQL analysis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13579"/>
            <a:ext cx="925341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Revenue Insights by Gender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2345769"/>
            <a:ext cx="8216265" cy="433113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083725" y="6707386"/>
            <a:ext cx="239316" cy="239316"/>
          </a:xfrm>
          <a:prstGeom prst="roundRect">
            <a:avLst>
              <a:gd name="adj" fmla="val 7642"/>
            </a:avLst>
          </a:prstGeom>
          <a:solidFill>
            <a:srgbClr val="054842"/>
          </a:solidFill>
          <a:ln/>
        </p:spPr>
      </p:sp>
      <p:sp>
        <p:nvSpPr>
          <p:cNvPr id="5" name="Text 2"/>
          <p:cNvSpPr/>
          <p:nvPr/>
        </p:nvSpPr>
        <p:spPr>
          <a:xfrm>
            <a:off x="4384000" y="6707386"/>
            <a:ext cx="485656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Male</a:t>
            </a:r>
            <a:endParaRPr lang="en-US" sz="1850" dirty="0"/>
          </a:p>
        </p:txBody>
      </p:sp>
      <p:sp>
        <p:nvSpPr>
          <p:cNvPr id="6" name="Shape 3"/>
          <p:cNvSpPr/>
          <p:nvPr/>
        </p:nvSpPr>
        <p:spPr>
          <a:xfrm>
            <a:off x="5022056" y="6707386"/>
            <a:ext cx="239316" cy="239316"/>
          </a:xfrm>
          <a:prstGeom prst="roundRect">
            <a:avLst>
              <a:gd name="adj" fmla="val 7642"/>
            </a:avLst>
          </a:prstGeom>
          <a:solidFill>
            <a:srgbClr val="28F1DE"/>
          </a:solidFill>
          <a:ln/>
        </p:spPr>
      </p:sp>
      <p:sp>
        <p:nvSpPr>
          <p:cNvPr id="7" name="Text 4"/>
          <p:cNvSpPr/>
          <p:nvPr/>
        </p:nvSpPr>
        <p:spPr>
          <a:xfrm>
            <a:off x="5322332" y="6707386"/>
            <a:ext cx="739735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Female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645491" y="3369826"/>
            <a:ext cx="3941326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Gender Distribution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9645491" y="4031456"/>
            <a:ext cx="4154686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Male customers generate 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highlight>
                  <a:srgbClr val="0A988B"/>
                </a:highlight>
                <a:latin typeface="Cabin" pitchFamily="34" charset="0"/>
                <a:ea typeface="Cabin" pitchFamily="34" charset="-122"/>
                <a:cs typeface="Cabin" pitchFamily="34" charset="-120"/>
              </a:rPr>
              <a:t>68% of total revenue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despite representing 68% of the customer base. This aligns with the higher frequency of male shoppers in the dataset.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144191"/>
            <a:ext cx="1801416" cy="449818"/>
          </a:xfrm>
          <a:prstGeom prst="roundRect">
            <a:avLst>
              <a:gd name="adj" fmla="val 6386"/>
            </a:avLst>
          </a:prstGeom>
          <a:solidFill>
            <a:srgbClr val="0548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1313" y="1273373"/>
            <a:ext cx="191453" cy="1914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8492" y="1215985"/>
            <a:ext cx="1227058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SQL ANALYSIS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37724" y="1689735"/>
            <a:ext cx="721197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Business Insights</a:t>
            </a:r>
            <a:endParaRPr lang="en-US" sz="4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752725"/>
            <a:ext cx="2388870" cy="23888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7724" y="5440799"/>
            <a:ext cx="370022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Smart Discount Users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7724" y="5936337"/>
            <a:ext cx="411884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839 customers used discounts but still spent above average ($60), showing price-conscious yet high-value shoppers.</a:t>
            </a:r>
            <a:endParaRPr lang="en-US" sz="1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5776" y="2752725"/>
            <a:ext cx="2388870" cy="238887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55776" y="5440799"/>
            <a:ext cx="334660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Top-Rated Products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255776" y="5936337"/>
            <a:ext cx="411884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Gloves (3.86), Sandals (3.84), and Boots (3.82) lead in customer satisfaction ratings.</a:t>
            </a:r>
            <a:endParaRPr lang="en-US" sz="1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3828" y="2752725"/>
            <a:ext cx="2388870" cy="238887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73828" y="5440799"/>
            <a:ext cx="356961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Shipping Preferences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9673828" y="5936337"/>
            <a:ext cx="411884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Express shipping customers spend $2 more on average ($60.48 vs $58.46) than standard shipping users.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8762" y="329089"/>
            <a:ext cx="485394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Subscription Status Analysis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8762" y="800695"/>
            <a:ext cx="7772757" cy="420254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14229" y="5033724"/>
            <a:ext cx="119658" cy="119658"/>
          </a:xfrm>
          <a:prstGeom prst="roundRect">
            <a:avLst>
              <a:gd name="adj" fmla="val 15284"/>
            </a:avLst>
          </a:prstGeom>
          <a:solidFill>
            <a:srgbClr val="054842"/>
          </a:solidFill>
          <a:ln/>
        </p:spPr>
      </p:sp>
      <p:sp>
        <p:nvSpPr>
          <p:cNvPr id="5" name="Text 2"/>
          <p:cNvSpPr/>
          <p:nvPr/>
        </p:nvSpPr>
        <p:spPr>
          <a:xfrm>
            <a:off x="6394847" y="5033724"/>
            <a:ext cx="844034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Non-Subscribers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391281" y="5033724"/>
            <a:ext cx="119658" cy="119658"/>
          </a:xfrm>
          <a:prstGeom prst="roundRect">
            <a:avLst>
              <a:gd name="adj" fmla="val 15284"/>
            </a:avLst>
          </a:prstGeom>
          <a:solidFill>
            <a:srgbClr val="28F1DE"/>
          </a:solidFill>
          <a:ln/>
        </p:spPr>
      </p:sp>
      <p:sp>
        <p:nvSpPr>
          <p:cNvPr id="7" name="Text 4"/>
          <p:cNvSpPr/>
          <p:nvPr/>
        </p:nvSpPr>
        <p:spPr>
          <a:xfrm>
            <a:off x="7571899" y="5033724"/>
            <a:ext cx="579834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Subscribers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428762" y="5243036"/>
            <a:ext cx="2572703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Subscription Opportunity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428762" y="5543788"/>
            <a:ext cx="7772757" cy="287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Only </a:t>
            </a:r>
            <a:pPr algn="l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27% of customers</a:t>
            </a:r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are subscribers, yet they contribute significant revenue. Both groups show similar average spend (~$60), indicating untapped potential for subscription growth.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617125" y="6676073"/>
            <a:ext cx="1472089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73%</a:t>
            </a:r>
            <a:endParaRPr lang="en-US" sz="23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557" y="5928122"/>
            <a:ext cx="1795343" cy="1795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8762" y="7813119"/>
            <a:ext cx="3848933" cy="143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Non-subscribers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540829" y="6676073"/>
            <a:ext cx="1472089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27%</a:t>
            </a:r>
            <a:endParaRPr lang="en-US" sz="23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9262" y="5928122"/>
            <a:ext cx="1795343" cy="17953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52467" y="7813119"/>
            <a:ext cx="3849052" cy="143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Subscribers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1900" y="931188"/>
            <a:ext cx="6856928" cy="57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Customer Segmentation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900" y="1937504"/>
            <a:ext cx="8155781" cy="4456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87383" y="4033270"/>
            <a:ext cx="1889753" cy="24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New (83)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759331" y="4004274"/>
            <a:ext cx="1889753" cy="24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Returning (701)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428207" y="4013701"/>
            <a:ext cx="1889753" cy="24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Loyal (3,116)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1900" y="6576893"/>
            <a:ext cx="8155781" cy="57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majority of customers (80%) are classified as Loyal, demonstrating strong retention. However, 958 repeat buyers with 5+ purchases remain unsubscribed—a key conversion opportunity.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414391" y="1754743"/>
            <a:ext cx="4453414" cy="5543669"/>
          </a:xfrm>
          <a:prstGeom prst="roundRect">
            <a:avLst>
              <a:gd name="adj" fmla="val 664"/>
            </a:avLst>
          </a:prstGeom>
          <a:solidFill>
            <a:srgbClr val="0A988B"/>
          </a:solidFill>
          <a:ln/>
        </p:spPr>
      </p:sp>
      <p:sp>
        <p:nvSpPr>
          <p:cNvPr id="9" name="Text 6"/>
          <p:cNvSpPr/>
          <p:nvPr/>
        </p:nvSpPr>
        <p:spPr>
          <a:xfrm>
            <a:off x="9611558" y="1955483"/>
            <a:ext cx="3498175" cy="347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Segment Breakdown</a:t>
            </a:r>
            <a:endParaRPr lang="en-US" sz="2150" dirty="0"/>
          </a:p>
        </p:txBody>
      </p:sp>
      <p:sp>
        <p:nvSpPr>
          <p:cNvPr id="10" name="Shape 7"/>
          <p:cNvSpPr/>
          <p:nvPr/>
        </p:nvSpPr>
        <p:spPr>
          <a:xfrm>
            <a:off x="9611558" y="2486144"/>
            <a:ext cx="4059079" cy="1422083"/>
          </a:xfrm>
          <a:prstGeom prst="roundRect">
            <a:avLst>
              <a:gd name="adj" fmla="val 2080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9808726" y="2683312"/>
            <a:ext cx="2319933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Loyal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808726" y="3135749"/>
            <a:ext cx="3664744" cy="57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3,116 customers</a:t>
            </a:r>
            <a:endParaRPr lang="en-US" sz="155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5+ purchases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9611558" y="4070628"/>
            <a:ext cx="4059079" cy="1422083"/>
          </a:xfrm>
          <a:prstGeom prst="roundRect">
            <a:avLst>
              <a:gd name="adj" fmla="val 2080"/>
            </a:avLst>
          </a:prstGeom>
          <a:solidFill>
            <a:srgbClr val="304755"/>
          </a:solidFill>
          <a:ln/>
        </p:spPr>
      </p:sp>
      <p:sp>
        <p:nvSpPr>
          <p:cNvPr id="14" name="Text 11"/>
          <p:cNvSpPr/>
          <p:nvPr/>
        </p:nvSpPr>
        <p:spPr>
          <a:xfrm>
            <a:off x="9808726" y="4267795"/>
            <a:ext cx="2319933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Returning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808726" y="4720233"/>
            <a:ext cx="3664744" cy="57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701 customers</a:t>
            </a:r>
            <a:endParaRPr lang="en-US" sz="155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2-5 purchases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9611558" y="5655112"/>
            <a:ext cx="4059079" cy="1422083"/>
          </a:xfrm>
          <a:prstGeom prst="roundRect">
            <a:avLst>
              <a:gd name="adj" fmla="val 2080"/>
            </a:avLst>
          </a:prstGeom>
          <a:solidFill>
            <a:srgbClr val="304755"/>
          </a:solidFill>
          <a:ln/>
        </p:spPr>
      </p:sp>
      <p:sp>
        <p:nvSpPr>
          <p:cNvPr id="17" name="Text 14"/>
          <p:cNvSpPr/>
          <p:nvPr/>
        </p:nvSpPr>
        <p:spPr>
          <a:xfrm>
            <a:off x="9808726" y="5852279"/>
            <a:ext cx="2319933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New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808726" y="6304717"/>
            <a:ext cx="3664744" cy="57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83 customers</a:t>
            </a:r>
            <a:endParaRPr lang="en-US" sz="155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First purchase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0314" y="659487"/>
            <a:ext cx="7476173" cy="1401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Power BI Dashboard Highlights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0314" y="2416850"/>
            <a:ext cx="2333863" cy="5153144"/>
          </a:xfrm>
          <a:prstGeom prst="roundRect">
            <a:avLst>
              <a:gd name="adj" fmla="val 6269"/>
            </a:avLst>
          </a:prstGeom>
          <a:solidFill>
            <a:srgbClr val="112836"/>
          </a:solidFill>
          <a:ln w="30480">
            <a:solidFill>
              <a:srgbClr val="49606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89834" y="2416850"/>
            <a:ext cx="121920" cy="5153144"/>
          </a:xfrm>
          <a:prstGeom prst="roundRect">
            <a:avLst>
              <a:gd name="adj" fmla="val 29316"/>
            </a:avLst>
          </a:prstGeom>
          <a:solidFill>
            <a:srgbClr val="0A988B"/>
          </a:solidFill>
          <a:ln/>
        </p:spPr>
      </p:sp>
      <p:sp>
        <p:nvSpPr>
          <p:cNvPr id="6" name="Text 3"/>
          <p:cNvSpPr/>
          <p:nvPr/>
        </p:nvSpPr>
        <p:spPr>
          <a:xfrm>
            <a:off x="6680478" y="2685574"/>
            <a:ext cx="1704975" cy="1050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Revenue by Category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680478" y="3878699"/>
            <a:ext cx="1704975" cy="3422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Clothing leads with $100K, followed by Accessories ($70K), Footwear ($30K), and Outerwear ($20K).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8891349" y="2416850"/>
            <a:ext cx="2333982" cy="5153144"/>
          </a:xfrm>
          <a:prstGeom prst="roundRect">
            <a:avLst>
              <a:gd name="adj" fmla="val 6268"/>
            </a:avLst>
          </a:prstGeom>
          <a:solidFill>
            <a:srgbClr val="112836"/>
          </a:solidFill>
          <a:ln w="30480">
            <a:solidFill>
              <a:srgbClr val="49606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860869" y="2416850"/>
            <a:ext cx="121920" cy="5153144"/>
          </a:xfrm>
          <a:prstGeom prst="roundRect">
            <a:avLst>
              <a:gd name="adj" fmla="val 29316"/>
            </a:avLst>
          </a:prstGeom>
          <a:solidFill>
            <a:srgbClr val="0A988B"/>
          </a:solidFill>
          <a:ln/>
        </p:spPr>
      </p:sp>
      <p:sp>
        <p:nvSpPr>
          <p:cNvPr id="10" name="Text 7"/>
          <p:cNvSpPr/>
          <p:nvPr/>
        </p:nvSpPr>
        <p:spPr>
          <a:xfrm>
            <a:off x="9251513" y="2685574"/>
            <a:ext cx="1705094" cy="1401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Age Group Performance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251513" y="4228981"/>
            <a:ext cx="1705094" cy="2661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Young Adults generate highest revenue ($62K), with consistent performance across all age segments.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11462504" y="2416850"/>
            <a:ext cx="2333863" cy="5153144"/>
          </a:xfrm>
          <a:prstGeom prst="roundRect">
            <a:avLst>
              <a:gd name="adj" fmla="val 6269"/>
            </a:avLst>
          </a:prstGeom>
          <a:solidFill>
            <a:srgbClr val="112836"/>
          </a:solidFill>
          <a:ln w="30480">
            <a:solidFill>
              <a:srgbClr val="49606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432024" y="2416850"/>
            <a:ext cx="121920" cy="5153144"/>
          </a:xfrm>
          <a:prstGeom prst="roundRect">
            <a:avLst>
              <a:gd name="adj" fmla="val 29316"/>
            </a:avLst>
          </a:prstGeom>
          <a:solidFill>
            <a:srgbClr val="0A988B"/>
          </a:solidFill>
          <a:ln/>
        </p:spPr>
      </p:sp>
      <p:sp>
        <p:nvSpPr>
          <p:cNvPr id="14" name="Text 11"/>
          <p:cNvSpPr/>
          <p:nvPr/>
        </p:nvSpPr>
        <p:spPr>
          <a:xfrm>
            <a:off x="11822668" y="2685574"/>
            <a:ext cx="1704975" cy="700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Interactive Filters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1822668" y="3528417"/>
            <a:ext cx="1704975" cy="3422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Dashboard enables filtering by gender, category, shipping type, and subscription status for dynamic insights.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961674"/>
            <a:ext cx="2395657" cy="449818"/>
          </a:xfrm>
          <a:prstGeom prst="roundRect">
            <a:avLst>
              <a:gd name="adj" fmla="val 6386"/>
            </a:avLst>
          </a:prstGeom>
          <a:solidFill>
            <a:srgbClr val="0548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1313" y="2090857"/>
            <a:ext cx="191453" cy="1914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8492" y="2033468"/>
            <a:ext cx="1821299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37724" y="2507218"/>
            <a:ext cx="907542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Strategic Business Actions</a:t>
            </a:r>
            <a:endParaRPr lang="en-US" sz="4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3570208"/>
            <a:ext cx="4318278" cy="9575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77039" y="4767024"/>
            <a:ext cx="343031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77039" y="5262563"/>
            <a:ext cx="383964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Promote exclusive benefits to convert the 73% non-subscriber base</a:t>
            </a:r>
            <a:endParaRPr lang="en-US" sz="1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002" y="3570208"/>
            <a:ext cx="4318278" cy="9575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95317" y="4767024"/>
            <a:ext cx="298692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Loyalty Programs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395317" y="5262563"/>
            <a:ext cx="383964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Reward repeat buyers to accelerate movement into Loyal segment</a:t>
            </a:r>
            <a:endParaRPr lang="en-US" sz="1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4279" y="3570208"/>
            <a:ext cx="4318278" cy="95750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13595" y="4767024"/>
            <a:ext cx="332660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9713595" y="5262563"/>
            <a:ext cx="383964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Focus on high-revenue age groups and express-shipping users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4388" y="859512"/>
            <a:ext cx="5475327" cy="684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Takeaways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814388" y="1883093"/>
            <a:ext cx="2354342" cy="5486876"/>
          </a:xfrm>
          <a:prstGeom prst="roundRect">
            <a:avLst>
              <a:gd name="adj" fmla="val 1483"/>
            </a:avLst>
          </a:prstGeom>
          <a:solidFill>
            <a:srgbClr val="304755"/>
          </a:solidFill>
          <a:ln/>
        </p:spPr>
      </p:sp>
      <p:sp>
        <p:nvSpPr>
          <p:cNvPr id="5" name="Shape 2"/>
          <p:cNvSpPr/>
          <p:nvPr/>
        </p:nvSpPr>
        <p:spPr>
          <a:xfrm>
            <a:off x="1047036" y="2115741"/>
            <a:ext cx="698063" cy="698063"/>
          </a:xfrm>
          <a:prstGeom prst="roundRect">
            <a:avLst>
              <a:gd name="adj" fmla="val 13097794"/>
            </a:avLst>
          </a:prstGeom>
          <a:solidFill>
            <a:srgbClr val="0A988B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8964" y="2307669"/>
            <a:ext cx="314087" cy="3140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47036" y="3039904"/>
            <a:ext cx="1889046" cy="102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Revenue Opportunity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1047036" y="4201716"/>
            <a:ext cx="1889046" cy="293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Male customers and Clothing category drive majority of revenue—optimize inventory and marketing accordingly.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3394829" y="1883093"/>
            <a:ext cx="2354342" cy="5486876"/>
          </a:xfrm>
          <a:prstGeom prst="roundRect">
            <a:avLst>
              <a:gd name="adj" fmla="val 1483"/>
            </a:avLst>
          </a:prstGeom>
          <a:solidFill>
            <a:srgbClr val="304755"/>
          </a:solidFill>
          <a:ln/>
        </p:spPr>
      </p:sp>
      <p:sp>
        <p:nvSpPr>
          <p:cNvPr id="10" name="Shape 6"/>
          <p:cNvSpPr/>
          <p:nvPr/>
        </p:nvSpPr>
        <p:spPr>
          <a:xfrm>
            <a:off x="3627477" y="2115741"/>
            <a:ext cx="698063" cy="698063"/>
          </a:xfrm>
          <a:prstGeom prst="roundRect">
            <a:avLst>
              <a:gd name="adj" fmla="val 13097794"/>
            </a:avLst>
          </a:prstGeom>
          <a:solidFill>
            <a:srgbClr val="0A988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9406" y="2307669"/>
            <a:ext cx="314087" cy="31408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27477" y="3039904"/>
            <a:ext cx="1889046" cy="684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Subscription Growth</a:t>
            </a:r>
            <a:endParaRPr lang="en-US" sz="2150" dirty="0"/>
          </a:p>
        </p:txBody>
      </p:sp>
      <p:sp>
        <p:nvSpPr>
          <p:cNvPr id="13" name="Text 8"/>
          <p:cNvSpPr/>
          <p:nvPr/>
        </p:nvSpPr>
        <p:spPr>
          <a:xfrm>
            <a:off x="3627477" y="3859649"/>
            <a:ext cx="1889046" cy="293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27% subscription rate with 958 unsubscribed repeat buyers represents significant conversion potential.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5975271" y="1883093"/>
            <a:ext cx="2354342" cy="5486876"/>
          </a:xfrm>
          <a:prstGeom prst="roundRect">
            <a:avLst>
              <a:gd name="adj" fmla="val 1483"/>
            </a:avLst>
          </a:prstGeom>
          <a:solidFill>
            <a:srgbClr val="304755"/>
          </a:solidFill>
          <a:ln/>
        </p:spPr>
      </p:sp>
      <p:sp>
        <p:nvSpPr>
          <p:cNvPr id="15" name="Shape 10"/>
          <p:cNvSpPr/>
          <p:nvPr/>
        </p:nvSpPr>
        <p:spPr>
          <a:xfrm>
            <a:off x="6207919" y="2115741"/>
            <a:ext cx="698063" cy="698063"/>
          </a:xfrm>
          <a:prstGeom prst="roundRect">
            <a:avLst>
              <a:gd name="adj" fmla="val 13097794"/>
            </a:avLst>
          </a:prstGeom>
          <a:solidFill>
            <a:srgbClr val="0A988B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99848" y="2307669"/>
            <a:ext cx="314087" cy="31408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07919" y="3039904"/>
            <a:ext cx="1889046" cy="684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Product Focus</a:t>
            </a:r>
            <a:endParaRPr lang="en-US" sz="2150" dirty="0"/>
          </a:p>
        </p:txBody>
      </p:sp>
      <p:sp>
        <p:nvSpPr>
          <p:cNvPr id="18" name="Text 12"/>
          <p:cNvSpPr/>
          <p:nvPr/>
        </p:nvSpPr>
        <p:spPr>
          <a:xfrm>
            <a:off x="6207919" y="3859649"/>
            <a:ext cx="1889046" cy="2201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Highlight top-rated products (Gloves, Sandals, Boots) and balance discount strategy to protect margins.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2026-02-10T10:41:29Z</dcterms:created>
  <dcterms:modified xsi:type="dcterms:W3CDTF">2026-02-10T10:41:29Z</dcterms:modified>
</cp:coreProperties>
</file>